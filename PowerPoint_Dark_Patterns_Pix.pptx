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556716"/>
            <a:ext cx="426243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sz="2500" b="1" dirty="0" err="1"/>
              <a:t>Vulnerabilidade</a:t>
            </a:r>
            <a:r>
              <a:rPr sz="2500" b="1" dirty="0"/>
              <a:t> Digital e </a:t>
            </a:r>
            <a:r>
              <a:rPr sz="2500" b="1" dirty="0" err="1"/>
              <a:t>Escolha</a:t>
            </a:r>
            <a:r>
              <a:rPr sz="2500" b="1" dirty="0"/>
              <a:t> </a:t>
            </a:r>
            <a:r>
              <a:rPr sz="2500" b="1" dirty="0" err="1"/>
              <a:t>Induzida</a:t>
            </a:r>
            <a:r>
              <a:rPr sz="2500" b="1" dirty="0"/>
              <a:t>:</a:t>
            </a:r>
          </a:p>
          <a:p>
            <a:pPr algn="just"/>
            <a:r>
              <a:rPr sz="2500" b="1" dirty="0"/>
              <a:t>Dark Patterns e Pix </a:t>
            </a:r>
            <a:r>
              <a:rPr sz="2500" b="1" dirty="0" err="1"/>
              <a:t>nas</a:t>
            </a:r>
            <a:r>
              <a:rPr sz="2500" b="1" dirty="0"/>
              <a:t> </a:t>
            </a:r>
            <a:r>
              <a:rPr sz="2500" b="1" dirty="0" err="1"/>
              <a:t>Apostas</a:t>
            </a:r>
            <a:r>
              <a:rPr sz="2500" b="1" dirty="0"/>
              <a:t> Online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1500" dirty="0" err="1"/>
              <a:t>Orientadora</a:t>
            </a:r>
            <a:r>
              <a:rPr sz="1500" dirty="0"/>
              <a:t>: Isabella Luiza dos Santos Souza</a:t>
            </a:r>
          </a:p>
          <a:p>
            <a:r>
              <a:rPr sz="1500" dirty="0"/>
              <a:t>Matheus Henrique Ferreira da Silva</a:t>
            </a:r>
            <a:endParaRPr lang="pt-BR" sz="1500" dirty="0"/>
          </a:p>
          <a:p>
            <a:r>
              <a:rPr lang="pt-BR" sz="1500" dirty="0"/>
              <a:t>49336061 </a:t>
            </a:r>
            <a:endParaRPr sz="1500" dirty="0"/>
          </a:p>
          <a:p>
            <a:r>
              <a:rPr sz="1500" dirty="0" err="1"/>
              <a:t>Cristhian</a:t>
            </a:r>
            <a:r>
              <a:rPr sz="1500" dirty="0"/>
              <a:t> Matheus Julio da Silva</a:t>
            </a:r>
            <a:r>
              <a:rPr lang="pt-BR" sz="1500" dirty="0"/>
              <a:t> 48796409</a:t>
            </a:r>
            <a:endParaRPr sz="1500" dirty="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sz="1400"/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7342" y="4541825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sz="1300" dirty="0"/>
              <a:t>Dark patterns • Pix • </a:t>
            </a:r>
            <a:r>
              <a:rPr sz="1300" dirty="0" err="1"/>
              <a:t>Proteção</a:t>
            </a:r>
            <a:r>
              <a:rPr sz="1300" dirty="0"/>
              <a:t> do </a:t>
            </a:r>
            <a:r>
              <a:rPr sz="1300" dirty="0" err="1"/>
              <a:t>consumidor</a:t>
            </a:r>
            <a:endParaRPr sz="1300" dirty="0"/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sz="1700"/>
              <a:t>PROBLEMÁTICA</a:t>
            </a:r>
          </a:p>
          <a:p>
            <a:r>
              <a:rPr sz="1700"/>
              <a:t>• Interfaces manipulativas podem induzir decisões de aposta.</a:t>
            </a:r>
          </a:p>
          <a:p>
            <a:r>
              <a:rPr sz="1700"/>
              <a:t>• A facilidade do Pix favorece depósitos rápidos e recorrentes.</a:t>
            </a:r>
          </a:p>
          <a:p>
            <a:r>
              <a:rPr sz="1700"/>
              <a:t>• O comportamento pode contribuir para endividamento e dependência.</a:t>
            </a:r>
          </a:p>
          <a:p>
            <a:endParaRPr sz="1700"/>
          </a:p>
          <a:p>
            <a:r>
              <a:rPr sz="1700"/>
              <a:t>JUSTIFICATIVA</a:t>
            </a:r>
          </a:p>
          <a:p>
            <a:r>
              <a:rPr sz="1700"/>
              <a:t>• Proteger a autonomia e os direitos do consumidor.</a:t>
            </a:r>
          </a:p>
          <a:p>
            <a:r>
              <a:rPr sz="1700"/>
              <a:t>• Discutir riscos do design digital em plataformas de apostas.</a:t>
            </a:r>
          </a:p>
          <a:p>
            <a:r>
              <a:rPr sz="1700"/>
              <a:t>• Destacar a necessidade de regulação coordenada.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400" b="1"/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sz="1700"/>
              <a:t>OBJETIVO GERAL</a:t>
            </a:r>
          </a:p>
          <a:p>
            <a:r>
              <a:rPr sz="1700"/>
              <a:t>• Analisar os impactos dos dark patterns e do Pix na proteção do consumidor de apostas online.</a:t>
            </a:r>
          </a:p>
          <a:p>
            <a:endParaRPr sz="1700"/>
          </a:p>
          <a:p>
            <a:r>
              <a:rPr sz="1700"/>
              <a:t>OBJETIVOS ESPECÍFICOS</a:t>
            </a:r>
          </a:p>
          <a:p>
            <a:r>
              <a:rPr sz="1700"/>
              <a:t>• Identificar práticas de interface que influenciam decisões.</a:t>
            </a:r>
          </a:p>
          <a:p>
            <a:r>
              <a:rPr sz="1700"/>
              <a:t>• Relacionar pagamentos instantâneos aos riscos de consumo.</a:t>
            </a:r>
          </a:p>
          <a:p>
            <a:r>
              <a:rPr sz="1700"/>
              <a:t>• Apontar caminhos para uma proteção regulatória mais efetiva.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400" b="1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sz="2300" b="1"/>
              <a:t>METODOLOGIA / 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sz="1900"/>
              <a:t>É uma abordagem qualitativa, de natureza teórica, sem procedimentos práticos e baseados em referenciais teóricos.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endParaRPr lang="pt-BR" sz="1800" dirty="0">
              <a:effectLst/>
              <a:latin typeface="Arial" panose="020B0604020202020204" pitchFamily="34" charset="0"/>
            </a:endParaRPr>
          </a:p>
          <a:p>
            <a:r>
              <a:rPr sz="1900"/>
              <a:t>A análise se apoia em publicações sobre dark patterns, meios de pagamento e experiência do usuário em aplicativos de apostas.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300" b="1"/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sz="1500"/>
              <a:t>DARK PATTERNS E DIREITOS DIGITAIS</a:t>
            </a:r>
          </a:p>
          <a:p>
            <a:r>
              <a:rPr sz="1500"/>
              <a:t>• Arquiteturas de interface podem direcionar escolhas.</a:t>
            </a:r>
          </a:p>
          <a:p>
            <a:r>
              <a:rPr sz="1500"/>
              <a:t>• Riscos à transparência, boa-fé e autonomia do consumidor.</a:t>
            </a:r>
          </a:p>
          <a:p>
            <a:r>
              <a:rPr sz="1500"/>
              <a:t>• Pesquisadores: Clarita Costa Maia e Lucas Sérvio Gonçalves Ramadas (2026).</a:t>
            </a:r>
          </a:p>
          <a:p>
            <a:endParaRPr sz="1500"/>
          </a:p>
          <a:p>
            <a:r>
              <a:rPr sz="1500"/>
              <a:t>EXPERIÊNCIA DO USUÁRIO EM APOSTAS</a:t>
            </a:r>
          </a:p>
          <a:p>
            <a:r>
              <a:rPr sz="1500"/>
              <a:t>• Elementos de design podem influenciar o comportamento dos jogadores.</a:t>
            </a:r>
          </a:p>
          <a:p>
            <a:r>
              <a:rPr sz="1500"/>
              <a:t>• Relação com o desenvolvimento de dependência.</a:t>
            </a:r>
          </a:p>
          <a:p>
            <a:r>
              <a:rPr sz="1500"/>
              <a:t>• Pesquisadores: Nogueira et al. (2025).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300" b="1"/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sz="1500"/>
              <a:t>PIX E PAGAMENTOS INSTANTÂNEOS</a:t>
            </a:r>
          </a:p>
          <a:p>
            <a:r>
              <a:rPr sz="1500"/>
              <a:t>• O Pix tornou-se um canal financeiro relevante nas apostas online.</a:t>
            </a:r>
          </a:p>
          <a:p>
            <a:r>
              <a:rPr sz="1500"/>
              <a:t>• Restrições a um meio de pagamento podem levar à migração para outro.</a:t>
            </a:r>
          </a:p>
          <a:p>
            <a:r>
              <a:rPr sz="1500"/>
              <a:t>• Pesquisadores: Gabriela Borges e Gustavo Tinoco de Santana (2024).</a:t>
            </a:r>
          </a:p>
          <a:p>
            <a:endParaRPr sz="1500"/>
          </a:p>
          <a:p>
            <a:r>
              <a:rPr sz="1500"/>
              <a:t>PROTEÇÃO DO CONSUMIDOR</a:t>
            </a:r>
          </a:p>
          <a:p>
            <a:r>
              <a:rPr sz="1500"/>
              <a:t>• Necessidade de atuação conjunta dos órgãos reguladores.</a:t>
            </a:r>
          </a:p>
          <a:p>
            <a:r>
              <a:rPr sz="1500"/>
              <a:t>• Possíveis frentes: SENACON, ANPD, Banco Central e CADE.</a:t>
            </a:r>
          </a:p>
          <a:p>
            <a:r>
              <a:rPr sz="1500"/>
              <a:t>• Lacuna destacada: aplicação prática de medidas contra arquiteturas abusivas.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300" b="1"/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sz="1700"/>
              <a:t>• Dark patterns podem comprometer a liberdade de escolha.</a:t>
            </a:r>
          </a:p>
          <a:p>
            <a:r>
              <a:rPr sz="1700"/>
              <a:t>• O Pix facilita transações rápidas, mas medidas isoladas têm alcance limitado.</a:t>
            </a:r>
          </a:p>
          <a:p>
            <a:r>
              <a:rPr sz="1700"/>
              <a:t>• A proteção exige transparência e interfaces equilibradas.</a:t>
            </a:r>
          </a:p>
          <a:p>
            <a:r>
              <a:rPr sz="1700"/>
              <a:t>• É importante coordenar a atuação dos órgãos reguladores.</a:t>
            </a:r>
          </a:p>
          <a:p>
            <a:r>
              <a:rPr sz="1700"/>
              <a:t>• Novos estudos podem avaliar a aplicação prática dessas medidas.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sz="1100"/>
              <a:t>BORGES, Gabriela; SANTANA, Gustavo Tinoco de. Meios de pagamento eficientes para o mercado de apostas online. Portal FGV, 29 nov. 2024.</a:t>
            </a: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r>
              <a:rPr sz="1100"/>
              <a:t>MAIA, Clarita Costa; RAMADAS, Lucas Sérvio Gonçalves. Dark Patterns: como uma arquitetura de redes maliciosa afeta os Direitos do Consumidor, o Direito da Concorrência e os Direitos Digitais. Brasília: Senado Federal, Texto para Discussão n. 359, abr. 2026.</a:t>
            </a:r>
          </a:p>
          <a:p>
            <a:endParaRPr sz="1100"/>
          </a:p>
          <a:p>
            <a:r>
              <a:rPr sz="1100"/>
              <a:t>NOGUEIRA, Ana Luisa Baraciolli et al. Como o design de experiência do usuário em aplicativos de apostas online impacta o desenvolvimento da dependência dos jogadores. 2025. TCC (Graduação em Design) – PUC-SP, São Paulo, 2025. Disponível em: https://repositorio.pucsp.br/jspui/handle/handle/46414. Acesso em: 14 out.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sz="2300" b="1"/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sz="2800" b="1" dirty="0" err="1"/>
              <a:t>Obrigado</a:t>
            </a:r>
            <a:r>
              <a:rPr sz="2800" b="1" dirty="0"/>
              <a:t>!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570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MATHEUS HENRIQUE FERREIRA DA SILVA</cp:lastModifiedBy>
  <cp:revision>21</cp:revision>
  <dcterms:created xsi:type="dcterms:W3CDTF">2021-05-14T17:32:15Z</dcterms:created>
  <dcterms:modified xsi:type="dcterms:W3CDTF">2026-10-14T23:49:12Z</dcterms:modified>
</cp:coreProperties>
</file>